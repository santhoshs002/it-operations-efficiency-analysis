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2" r:id="rId7"/>
    <p:sldId id="303" r:id="rId8"/>
    <p:sldId id="304" r:id="rId9"/>
    <p:sldId id="307" r:id="rId10"/>
    <p:sldId id="30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to\Desktop\Workspace\Business%20Analyst%20Projects\Excel%20Project\IT%20Operations%20Efficiency\it_support_tickets_clean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to\Desktop\Workspace\Business%20Analyst%20Projects\Excel%20Project\IT%20Operations%20Efficiency\it_support_tickets_clean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to\Desktop\Workspace\Business%20Analyst%20Projects\Excel%20Project\IT%20Operations%20Efficiency\it_support_tickets_clean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[it_support_tickets_cleaned.xlsx]Pivot_Tables&amp;Charts!PivotTable1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Highest Number Of Tickets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'Pivot_Tables&amp;Charts'!$B$3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'Pivot_Tables&amp;Charts'!$A$4:$A$8</c:f>
              <c:strCache>
                <c:ptCount val="4"/>
                <c:pt idx="0">
                  <c:v>Access/Login</c:v>
                </c:pt>
                <c:pt idx="1">
                  <c:v>Software Glitch</c:v>
                </c:pt>
                <c:pt idx="2">
                  <c:v>Network Issues</c:v>
                </c:pt>
                <c:pt idx="3">
                  <c:v>Hardware Failure</c:v>
                </c:pt>
              </c:strCache>
            </c:strRef>
          </c:cat>
          <c:val>
            <c:numRef>
              <c:f>'Pivot_Tables&amp;Charts'!$B$4:$B$8</c:f>
              <c:numCache>
                <c:formatCode>General</c:formatCode>
                <c:ptCount val="4"/>
                <c:pt idx="0">
                  <c:v>74</c:v>
                </c:pt>
                <c:pt idx="1">
                  <c:v>63</c:v>
                </c:pt>
                <c:pt idx="2">
                  <c:v>58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30-4BC2-B63B-3B3AE9467D3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701890095"/>
        <c:axId val="701880495"/>
      </c:barChart>
      <c:catAx>
        <c:axId val="70189009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1880495"/>
        <c:crosses val="autoZero"/>
        <c:auto val="1"/>
        <c:lblAlgn val="ctr"/>
        <c:lblOffset val="100"/>
        <c:noMultiLvlLbl val="0"/>
      </c:catAx>
      <c:valAx>
        <c:axId val="701880495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18900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[it_support_tickets_cleaned.xlsx]Pivot_Tables&amp;Charts!PivotTable2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Highest Average Number of Resolution Days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6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'Pivot_Tables&amp;Charts'!$F$3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'Pivot_Tables&amp;Charts'!$E$4:$E$8</c:f>
              <c:strCache>
                <c:ptCount val="4"/>
                <c:pt idx="0">
                  <c:v>Hardware Failure</c:v>
                </c:pt>
                <c:pt idx="1">
                  <c:v>Network Issues</c:v>
                </c:pt>
                <c:pt idx="2">
                  <c:v>Software Glitch</c:v>
                </c:pt>
                <c:pt idx="3">
                  <c:v>Access/Login</c:v>
                </c:pt>
              </c:strCache>
            </c:strRef>
          </c:cat>
          <c:val>
            <c:numRef>
              <c:f>'Pivot_Tables&amp;Charts'!$F$4:$F$8</c:f>
              <c:numCache>
                <c:formatCode>0.0</c:formatCode>
                <c:ptCount val="4"/>
                <c:pt idx="0">
                  <c:v>9.5154545454545456</c:v>
                </c:pt>
                <c:pt idx="1">
                  <c:v>4.2560344827586194</c:v>
                </c:pt>
                <c:pt idx="2">
                  <c:v>3.9539682539682532</c:v>
                </c:pt>
                <c:pt idx="3">
                  <c:v>0.58175675675675698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57-49D7-81C2-8A1E58DD038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701906895"/>
        <c:axId val="701903535"/>
      </c:barChart>
      <c:catAx>
        <c:axId val="701906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1903535"/>
        <c:crosses val="autoZero"/>
        <c:auto val="1"/>
        <c:lblAlgn val="ctr"/>
        <c:lblOffset val="100"/>
        <c:noMultiLvlLbl val="0"/>
      </c:catAx>
      <c:valAx>
        <c:axId val="70190353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crossAx val="7019068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[it_support_tickets_cleaned.xlsx]Pivot_Tables&amp;Charts!PivotTable3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Number of Resolution Days Based On Priority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'Pivot_Tables&amp;Charts'!$I$3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'Pivot_Tables&amp;Charts'!$H$4:$H$8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Critical</c:v>
                </c:pt>
                <c:pt idx="3">
                  <c:v>High</c:v>
                </c:pt>
              </c:strCache>
            </c:strRef>
          </c:cat>
          <c:val>
            <c:numRef>
              <c:f>'Pivot_Tables&amp;Charts'!$I$4:$I$8</c:f>
              <c:numCache>
                <c:formatCode>0.0</c:formatCode>
                <c:ptCount val="4"/>
                <c:pt idx="0">
                  <c:v>4.5690909090909084</c:v>
                </c:pt>
                <c:pt idx="1">
                  <c:v>4.2843023255813941</c:v>
                </c:pt>
                <c:pt idx="2">
                  <c:v>4.1500000000000004</c:v>
                </c:pt>
                <c:pt idx="3">
                  <c:v>3.4369565217391305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09-4D83-A7CE-F3CCD52DB22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95112959"/>
        <c:axId val="695130719"/>
      </c:barChart>
      <c:catAx>
        <c:axId val="695112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5130719"/>
        <c:crosses val="autoZero"/>
        <c:auto val="1"/>
        <c:lblAlgn val="ctr"/>
        <c:lblOffset val="100"/>
        <c:noMultiLvlLbl val="0"/>
      </c:catAx>
      <c:valAx>
        <c:axId val="695130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5112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hyperlink" Target="https://www.techdee.com/why-modern-it-solutions-are-essential-for-competitive-advantage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oplematters.in/article/talent-management/the-year-that-was-2018-in-the-it-sector-20259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3273" y="-240022"/>
            <a:ext cx="12344400" cy="731267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IN" sz="4400" dirty="0"/>
              <a:t>IT Operations</a:t>
            </a:r>
            <a:br>
              <a:rPr lang="en-IN" sz="4400" dirty="0"/>
            </a:br>
            <a:r>
              <a:rPr lang="en-IN" sz="4400" dirty="0"/>
              <a:t>Efficiency  Analysis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Q4 2025 - Q1 2026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713BCD-1BEA-819C-DE50-8A3CA14CB6E2}"/>
              </a:ext>
            </a:extLst>
          </p:cNvPr>
          <p:cNvSpPr txBox="1"/>
          <p:nvPr/>
        </p:nvSpPr>
        <p:spPr>
          <a:xfrm>
            <a:off x="152400" y="-231871"/>
            <a:ext cx="3505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bottlenecks and automation opportunities in Help Desk Support.</a:t>
            </a:r>
            <a:endParaRPr lang="en-IN" sz="32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2B7096-5080-78E2-4106-C8AF9AC27F01}"/>
              </a:ext>
            </a:extLst>
          </p:cNvPr>
          <p:cNvSpPr/>
          <p:nvPr/>
        </p:nvSpPr>
        <p:spPr>
          <a:xfrm>
            <a:off x="5486399" y="4813992"/>
            <a:ext cx="670232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SANTHOSH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89585F-E13C-F0C8-A6AC-FBB1C0D43349}"/>
              </a:ext>
            </a:extLst>
          </p:cNvPr>
          <p:cNvSpPr txBox="1"/>
          <p:nvPr/>
        </p:nvSpPr>
        <p:spPr>
          <a:xfrm>
            <a:off x="7995920" y="6400800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Business Analyst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Key Findings &amp; Data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EE347A-EFE5-8486-9077-F5D162309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7721"/>
            <a:ext cx="10058400" cy="3760891"/>
          </a:xfrm>
        </p:spPr>
        <p:txBody>
          <a:bodyPr/>
          <a:lstStyle/>
          <a:p>
            <a:endParaRPr lang="en-US" b="1" dirty="0"/>
          </a:p>
          <a:p>
            <a:r>
              <a:rPr lang="en-US" b="1" dirty="0"/>
              <a:t>Insight 1: </a:t>
            </a:r>
            <a:r>
              <a:rPr lang="en-US" dirty="0"/>
              <a:t>Access/Login issues are 30% of </a:t>
            </a:r>
          </a:p>
          <a:p>
            <a:r>
              <a:rPr lang="en-US" dirty="0"/>
              <a:t>total volume.</a:t>
            </a:r>
            <a:endParaRPr lang="en-I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D69FA95-348A-BE96-1A37-27C5841AA1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788140"/>
              </p:ext>
            </p:extLst>
          </p:nvPr>
        </p:nvGraphicFramePr>
        <p:xfrm>
          <a:off x="5638800" y="2077721"/>
          <a:ext cx="5455920" cy="3760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4A39-3E1B-FA79-6B34-C4CDA37D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41D0-1999-E9BA-C2A1-E116AC2E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Key Findings &amp; Data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544F6B-91A0-5283-8A3E-A583D9970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7721"/>
            <a:ext cx="10058400" cy="3760891"/>
          </a:xfrm>
        </p:spPr>
        <p:txBody>
          <a:bodyPr/>
          <a:lstStyle/>
          <a:p>
            <a:endParaRPr lang="en-US" b="1" dirty="0"/>
          </a:p>
          <a:p>
            <a:r>
              <a:rPr lang="en-US" b="1" dirty="0"/>
              <a:t>Insight 2: </a:t>
            </a:r>
            <a:r>
              <a:rPr lang="en-US" dirty="0"/>
              <a:t>Hardware Failures take ~9.5 days</a:t>
            </a:r>
          </a:p>
          <a:p>
            <a:r>
              <a:rPr lang="en-US" dirty="0"/>
              <a:t>to resolve (2x longer than average).</a:t>
            </a:r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8B5DF9E-7BC2-4AD0-ED73-1C36D79189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8492520"/>
              </p:ext>
            </p:extLst>
          </p:nvPr>
        </p:nvGraphicFramePr>
        <p:xfrm>
          <a:off x="5648960" y="2077720"/>
          <a:ext cx="5445760" cy="3760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951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7626A-D268-1334-5B73-7ADA1348B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A5E3-AE0A-F90A-23C3-1C5DBEB3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Key Findings &amp; Data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35F574-EE25-BED0-CCA5-794D0CE71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7721"/>
            <a:ext cx="10058400" cy="3760891"/>
          </a:xfrm>
        </p:spPr>
        <p:txBody>
          <a:bodyPr/>
          <a:lstStyle/>
          <a:p>
            <a:endParaRPr lang="en-US" b="1" dirty="0"/>
          </a:p>
          <a:p>
            <a:r>
              <a:rPr lang="en-US" b="1" dirty="0"/>
              <a:t>Insight 3: </a:t>
            </a:r>
            <a:r>
              <a:rPr lang="en-US" dirty="0"/>
              <a:t>Critical issues are resolved faster </a:t>
            </a:r>
          </a:p>
          <a:p>
            <a:r>
              <a:rPr lang="en-US" dirty="0"/>
              <a:t>than Low priority ones but are lower than</a:t>
            </a:r>
          </a:p>
          <a:p>
            <a:r>
              <a:rPr lang="en-US" dirty="0"/>
              <a:t>High priority ones.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6674D69-3794-5857-584B-05F3B22BCD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2682661"/>
              </p:ext>
            </p:extLst>
          </p:nvPr>
        </p:nvGraphicFramePr>
        <p:xfrm>
          <a:off x="5648960" y="2077718"/>
          <a:ext cx="5445760" cy="3760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6532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A553F-C3A2-EF65-2CD3-7A1109BF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9FCB0-0BC1-01B0-6A55-AB681532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Strategic Improvements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264D2F-FD3E-C849-EF42-F6C80F536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7721"/>
            <a:ext cx="10058400" cy="3760891"/>
          </a:xfrm>
        </p:spPr>
        <p:txBody>
          <a:bodyPr>
            <a:normAutofit lnSpcReduction="10000"/>
          </a:bodyPr>
          <a:lstStyle/>
          <a:p>
            <a:endParaRPr lang="en-US" b="1" dirty="0"/>
          </a:p>
          <a:p>
            <a:r>
              <a:rPr lang="en-US" b="1" dirty="0"/>
              <a:t>1 . Automate Password Resets:</a:t>
            </a:r>
            <a:r>
              <a:rPr lang="en-US" dirty="0"/>
              <a:t> Implement a self-service tool to eliminate manual handling of Access tickets (30% volume reduction).</a:t>
            </a:r>
          </a:p>
          <a:p>
            <a:endParaRPr lang="en-US" dirty="0"/>
          </a:p>
          <a:p>
            <a:r>
              <a:rPr lang="en-US" dirty="0"/>
              <a:t>2 . </a:t>
            </a:r>
            <a:r>
              <a:rPr lang="en-US" b="1" dirty="0"/>
              <a:t>Optimize Hardware Inventory:</a:t>
            </a:r>
            <a:r>
              <a:rPr lang="en-US" dirty="0"/>
              <a:t> Stock critical spare parts (RAM, SSDs) on-site to reduce wait times from 9.5 days to &lt;4 days.</a:t>
            </a:r>
          </a:p>
          <a:p>
            <a:endParaRPr lang="en-US" dirty="0"/>
          </a:p>
          <a:p>
            <a:r>
              <a:rPr lang="en-US" dirty="0"/>
              <a:t>3 . </a:t>
            </a:r>
            <a:r>
              <a:rPr lang="en-US" b="1" dirty="0"/>
              <a:t>Validate Triage Process:</a:t>
            </a:r>
            <a:r>
              <a:rPr lang="en-US" dirty="0"/>
              <a:t> Current prioritization is effective; Critical issues are resolved faster than Low priority ones.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829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8E105-3228-8802-F659-61A63286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447F-3A83-A8EB-6F38-FC0394ED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Expected Outcomes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B3A627-AB95-FDA8-9203-76A5A6442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7721"/>
            <a:ext cx="10058400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Reduced Workload:</a:t>
            </a:r>
            <a:r>
              <a:rPr lang="en-US" dirty="0"/>
              <a:t> Free up ~15 hours/week for IT staff by automating login tickets.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Faster Service:</a:t>
            </a:r>
            <a:r>
              <a:rPr lang="en-US" dirty="0"/>
              <a:t> Improve employee uptime by resolving hardware issues 50% faster.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Cost Efficiency:</a:t>
            </a:r>
            <a:r>
              <a:rPr lang="en-US" dirty="0"/>
              <a:t> Lower operational costs through reduced manual support.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24475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95F17-6AAF-9DDE-CFEF-DDB19B35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you!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03DA07-CC61-4755-BB66-E64CFA2BA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985" y="1995947"/>
            <a:ext cx="11167563" cy="4247537"/>
          </a:xfrm>
        </p:spPr>
      </p:pic>
    </p:spTree>
    <p:extLst>
      <p:ext uri="{BB962C8B-B14F-4D97-AF65-F5344CB8AC3E}">
        <p14:creationId xmlns:p14="http://schemas.microsoft.com/office/powerpoint/2010/main" val="22078303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{3CC89F5C-47AD-4A1F-9589-B222D3CD91C3}tf22712842_win32</Template>
  <TotalTime>53</TotalTime>
  <Words>233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Bookman Old Style</vt:lpstr>
      <vt:lpstr>Calibri</vt:lpstr>
      <vt:lpstr>Franklin Gothic Book</vt:lpstr>
      <vt:lpstr>Wingdings</vt:lpstr>
      <vt:lpstr>Custom</vt:lpstr>
      <vt:lpstr>IT Operations Efficiency  Analysis</vt:lpstr>
      <vt:lpstr>Key Findings &amp; Data Insights</vt:lpstr>
      <vt:lpstr>Key Findings &amp; Data Insights</vt:lpstr>
      <vt:lpstr>Key Findings &amp; Data Insights</vt:lpstr>
      <vt:lpstr>Strategic Improvements</vt:lpstr>
      <vt:lpstr>Expected Outcomes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S</dc:creator>
  <cp:lastModifiedBy>Santhosh S</cp:lastModifiedBy>
  <cp:revision>3</cp:revision>
  <dcterms:created xsi:type="dcterms:W3CDTF">2026-01-07T16:46:52Z</dcterms:created>
  <dcterms:modified xsi:type="dcterms:W3CDTF">2026-01-07T17:41:28Z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